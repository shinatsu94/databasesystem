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23c7cf8a8439a" /><Relationship Type="http://schemas.openxmlformats.org/officeDocument/2006/relationships/extended-properties" Target="/docProps/app.xml" Id="Ra2f1e2a38de74bd7" /><Relationship Type="http://schemas.openxmlformats.org/officeDocument/2006/relationships/officeDocument" Target="/ppt/presentation.xml" Id="Rb3355ff6f0c44f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c2ef6e21c471e"/>
  </p:sldMasterIdLst>
  <p:notesMasterIdLst>
    <p:notesMasterId xmlns:r="http://schemas.openxmlformats.org/officeDocument/2006/relationships" r:id="Ra94900db5bd248a2"/>
  </p:notesMasterIdLst>
  <p:sldIdLst>
    <p:sldId xmlns:r="http://schemas.openxmlformats.org/officeDocument/2006/relationships" id="256" r:id="Rcb968a630d1b46ac"/>
    <p:sldId xmlns:r="http://schemas.openxmlformats.org/officeDocument/2006/relationships" id="257" r:id="Rb593ece6dffd40cf"/>
    <p:sldId xmlns:r="http://schemas.openxmlformats.org/officeDocument/2006/relationships" id="258" r:id="R8c3913e328c640d6"/>
    <p:sldId xmlns:r="http://schemas.openxmlformats.org/officeDocument/2006/relationships" id="259" r:id="R3584263a48214073"/>
    <p:sldId xmlns:r="http://schemas.openxmlformats.org/officeDocument/2006/relationships" id="260" r:id="R879e184a2c524507"/>
    <p:sldId xmlns:r="http://schemas.openxmlformats.org/officeDocument/2006/relationships" id="261" r:id="Rfe707db1fbed48d0"/>
    <p:sldId xmlns:r="http://schemas.openxmlformats.org/officeDocument/2006/relationships" id="262" r:id="Rbb918cd314ea4351"/>
    <p:sldId xmlns:r="http://schemas.openxmlformats.org/officeDocument/2006/relationships" id="263" r:id="Rd0d267b2e5f2433c"/>
    <p:sldId xmlns:r="http://schemas.openxmlformats.org/officeDocument/2006/relationships" id="264" r:id="Rebcbbe9d379b472e"/>
    <p:sldId xmlns:r="http://schemas.openxmlformats.org/officeDocument/2006/relationships" id="265" r:id="R451e0caef9194245"/>
    <p:sldId xmlns:r="http://schemas.openxmlformats.org/officeDocument/2006/relationships" id="266" r:id="Rda19b614b1b04d2c"/>
    <p:sldId xmlns:r="http://schemas.openxmlformats.org/officeDocument/2006/relationships" id="267" r:id="R0a0267b5657e48b1"/>
    <p:sldId xmlns:r="http://schemas.openxmlformats.org/officeDocument/2006/relationships" id="268" r:id="R2c46e00171f145fa"/>
    <p:sldId xmlns:r="http://schemas.openxmlformats.org/officeDocument/2006/relationships" id="269" r:id="R5a843bc8ffae40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c2ef6e21c471e" /><Relationship Type="http://schemas.openxmlformats.org/officeDocument/2006/relationships/theme" Target="/ppt/theme/theme1.xml" Id="R5a48f63129484b69" /><Relationship Type="http://schemas.openxmlformats.org/officeDocument/2006/relationships/notesMaster" Target="/ppt/notesMasters/notesMaster1.xml" Id="Ra94900db5bd248a2" /><Relationship Type="http://schemas.openxmlformats.org/officeDocument/2006/relationships/presProps" Target="/ppt/presProps.xml" Id="R448160afec274494" /><Relationship Type="http://schemas.openxmlformats.org/officeDocument/2006/relationships/viewProps" Target="/ppt/viewProps.xml" Id="R7d5dba2f277e49db" /><Relationship Type="http://schemas.openxmlformats.org/officeDocument/2006/relationships/tableStyles" Target="/ppt/tableStyles.xml" Id="R06d4e7c8bea140c1" /><Relationship Type="http://schemas.openxmlformats.org/officeDocument/2006/relationships/slide" Target="/ppt/slides/slide1.xml" Id="Rcb968a630d1b46ac" /><Relationship Type="http://schemas.openxmlformats.org/officeDocument/2006/relationships/slide" Target="/ppt/slides/slide2.xml" Id="Rb593ece6dffd40cf" /><Relationship Type="http://schemas.openxmlformats.org/officeDocument/2006/relationships/slide" Target="/ppt/slides/slide3.xml" Id="R8c3913e328c640d6" /><Relationship Type="http://schemas.openxmlformats.org/officeDocument/2006/relationships/slide" Target="/ppt/slides/slide4.xml" Id="R3584263a48214073" /><Relationship Type="http://schemas.openxmlformats.org/officeDocument/2006/relationships/slide" Target="/ppt/slides/slide5.xml" Id="R879e184a2c524507" /><Relationship Type="http://schemas.openxmlformats.org/officeDocument/2006/relationships/slide" Target="/ppt/slides/slide6.xml" Id="Rfe707db1fbed48d0" /><Relationship Type="http://schemas.openxmlformats.org/officeDocument/2006/relationships/slide" Target="/ppt/slides/slide7.xml" Id="Rbb918cd314ea4351" /><Relationship Type="http://schemas.openxmlformats.org/officeDocument/2006/relationships/slide" Target="/ppt/slides/slide8.xml" Id="Rd0d267b2e5f2433c" /><Relationship Type="http://schemas.openxmlformats.org/officeDocument/2006/relationships/slide" Target="/ppt/slides/slide9.xml" Id="Rebcbbe9d379b472e" /><Relationship Type="http://schemas.openxmlformats.org/officeDocument/2006/relationships/slide" Target="/ppt/slides/slide10.xml" Id="R451e0caef9194245" /><Relationship Type="http://schemas.openxmlformats.org/officeDocument/2006/relationships/slide" Target="/ppt/slides/slide11.xml" Id="Rda19b614b1b04d2c" /><Relationship Type="http://schemas.openxmlformats.org/officeDocument/2006/relationships/slide" Target="/ppt/slides/slide12.xml" Id="R0a0267b5657e48b1" /><Relationship Type="http://schemas.openxmlformats.org/officeDocument/2006/relationships/slide" Target="/ppt/slides/slide13.xml" Id="R2c46e00171f145fa" /><Relationship Type="http://schemas.openxmlformats.org/officeDocument/2006/relationships/slide" Target="/ppt/slides/slide14.xml" Id="R5a843bc8ffae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7a441ada2045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492460f38474d" /><Relationship Type="http://schemas.openxmlformats.org/officeDocument/2006/relationships/notesMaster" Target="/ppt/notesMasters/notesMaster1.xml" Id="Rb91cc87b62d84a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482a156a84ab9" /><Relationship Type="http://schemas.openxmlformats.org/officeDocument/2006/relationships/notesMaster" Target="/ppt/notesMasters/notesMaster1.xml" Id="Rccfec128ec7c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8db6e84164fc5" /><Relationship Type="http://schemas.openxmlformats.org/officeDocument/2006/relationships/notesMaster" Target="/ppt/notesMasters/notesMaster1.xml" Id="Reb362160857b4c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70e12049743d9" /><Relationship Type="http://schemas.openxmlformats.org/officeDocument/2006/relationships/notesMaster" Target="/ppt/notesMasters/notesMaster1.xml" Id="R9a1115504f1947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4c5536a7d4648" /><Relationship Type="http://schemas.openxmlformats.org/officeDocument/2006/relationships/notesMaster" Target="/ppt/notesMasters/notesMaster1.xml" Id="R294a88a8e95d48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85b5c90d34d5b" /><Relationship Type="http://schemas.openxmlformats.org/officeDocument/2006/relationships/notesMaster" Target="/ppt/notesMasters/notesMaster1.xml" Id="Rb2001d02f07b43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712a87178549b2" /><Relationship Type="http://schemas.openxmlformats.org/officeDocument/2006/relationships/notesMaster" Target="/ppt/notesMasters/notesMaster1.xml" Id="R2cb0c17d3feb4d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b67d7dafe24802" /><Relationship Type="http://schemas.openxmlformats.org/officeDocument/2006/relationships/notesMaster" Target="/ppt/notesMasters/notesMaster1.xml" Id="R37b83816f91e4a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54e47800d428b" /><Relationship Type="http://schemas.openxmlformats.org/officeDocument/2006/relationships/notesMaster" Target="/ppt/notesMasters/notesMaster1.xml" Id="Ra19a571af56349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44c7f539fc4b12" /><Relationship Type="http://schemas.openxmlformats.org/officeDocument/2006/relationships/notesMaster" Target="/ppt/notesMasters/notesMaster1.xml" Id="Re3f94730559e4e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ade6ed7ff54883" /><Relationship Type="http://schemas.openxmlformats.org/officeDocument/2006/relationships/notesMaster" Target="/ppt/notesMasters/notesMaster1.xml" Id="Rfc12f1cfff534c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5b87524d984994" /><Relationship Type="http://schemas.openxmlformats.org/officeDocument/2006/relationships/notesMaster" Target="/ppt/notesMasters/notesMaster1.xml" Id="R479cdbb9262241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1fb367ea014318" /><Relationship Type="http://schemas.openxmlformats.org/officeDocument/2006/relationships/notesMaster" Target="/ppt/notesMasters/notesMaster1.xml" Id="R3eec91dac5e14e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f4bc60d4f477b" /><Relationship Type="http://schemas.openxmlformats.org/officeDocument/2006/relationships/notesMaster" Target="/ppt/notesMasters/notesMaster1.xml" Id="Ra13ffc03725f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91d7e0fa0450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cf52210384464b" /><Relationship Type="http://schemas.openxmlformats.org/officeDocument/2006/relationships/slideLayout" Target="/ppt/slideLayouts/slideLayout2.xml" Id="R6dd84640108f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84640108f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51e2211504c0a" /><Relationship Type="http://schemas.openxmlformats.org/officeDocument/2006/relationships/notesSlide" Target="/ppt/notesSlides/notesSlide1.xml" Id="Rbabd12e76cfa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c8af1647c4734" /><Relationship Type="http://schemas.openxmlformats.org/officeDocument/2006/relationships/notesSlide" Target="/ppt/notesSlides/notesSlide2.xml" Id="R15e22490be1c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9a6090779b461d" /><Relationship Type="http://schemas.openxmlformats.org/officeDocument/2006/relationships/notesSlide" Target="/ppt/notesSlides/notesSlide3.xml" Id="Rf057f6397bae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281e7d4a8435b" /><Relationship Type="http://schemas.openxmlformats.org/officeDocument/2006/relationships/notesSlide" Target="/ppt/notesSlides/notesSlide4.xml" Id="R4f278a2eefba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ee6c9fd804363" /><Relationship Type="http://schemas.openxmlformats.org/officeDocument/2006/relationships/notesSlide" Target="/ppt/notesSlides/notesSlide5.xml" Id="R2c1712d32da3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20c78d1d8417d" /><Relationship Type="http://schemas.openxmlformats.org/officeDocument/2006/relationships/notesSlide" Target="/ppt/notesSlides/notesSlide6.xml" Id="Rc83a9a49833e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535b2da1d4647" /><Relationship Type="http://schemas.openxmlformats.org/officeDocument/2006/relationships/notesSlide" Target="/ppt/notesSlides/notesSlide7.xml" Id="R40ece0bfea89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8577b96e042f7" /><Relationship Type="http://schemas.openxmlformats.org/officeDocument/2006/relationships/notesSlide" Target="/ppt/notesSlides/notesSlide8.xml" Id="Rae47333219574c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129686c8b4fa0" /><Relationship Type="http://schemas.openxmlformats.org/officeDocument/2006/relationships/notesSlide" Target="/ppt/notesSlides/notesSlide9.xml" Id="R8cab006eab794e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a9abfa53214c26" /><Relationship Type="http://schemas.openxmlformats.org/officeDocument/2006/relationships/notesSlide" Target="/ppt/notesSlides/notesSlide10.xml" Id="Rb8dc0b36d7454d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678a1e14f40db" /><Relationship Type="http://schemas.openxmlformats.org/officeDocument/2006/relationships/notesSlide" Target="/ppt/notesSlides/notesSlide11.xml" Id="Rf904b1c5dac04a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a9a4194ce146a2" /><Relationship Type="http://schemas.openxmlformats.org/officeDocument/2006/relationships/notesSlide" Target="/ppt/notesSlides/notesSlide12.xml" Id="R61cdb04d410a4c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99b1a53854adb" /><Relationship Type="http://schemas.openxmlformats.org/officeDocument/2006/relationships/notesSlide" Target="/ppt/notesSlides/notesSlide13.xml" Id="R9b53f67e4a9a47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c9ba7cddf464d" /><Relationship Type="http://schemas.openxmlformats.org/officeDocument/2006/relationships/notesSlide" Target="/ppt/notesSlides/notesSlide14.xml" Id="R95505818816247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1D151-177D-4360-8EA1-AB07EE7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E2F91-C02C-47FA-AB4C-6A0A945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23FFD-2C7F-4716-BD9D-C2BADCD7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9F60F-6D57-4044-BCE2-666C102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B9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DB9C4"/>
                </a:solidFill>
                <a:latin typeface="Microsoft JhengHei"/>
                <a:ea typeface="Microsoft JhengHei"/>
                <a:cs typeface="Microsoft JhengHei"/>
              </a:rPr>
              <a:t>DATABASE SYSTEM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F2B40-07EB-4C0D-9B1D-246827B8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09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教室租用系統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408CF-EAAC-436C-AD3A-D70C801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04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從需求、完整性限制與 ER Diagram</a:t>
            </a:r>
          </a:p>
          <a:p xmlns:a="http://schemas.openxmlformats.org/drawingml/2006/main">
            <a:pPr algn="l">
              <a:defRPr sz="2100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落實為可驗證的 SQLite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E23C7-8E79-4A7F-99C3-AF93260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8F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68F36"/>
                </a:solidFill>
                <a:latin typeface="Microsoft JhengHei"/>
                <a:ea typeface="Microsoft JhengHei"/>
                <a:cs typeface="Microsoft JhengHei"/>
              </a:rPr>
              <a:t>PART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0913-AC28-41B8-9647-FBA6FDD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需求與 ER 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EA142-5058-4072-985C-1AA83F9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8F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68F36"/>
                </a:solidFill>
                <a:latin typeface="Microsoft JhengHei"/>
                <a:ea typeface="Microsoft JhengHei"/>
                <a:cs typeface="Microsoft JhengHei"/>
              </a:rPr>
              <a:t>PART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810C6-08CD-4D56-A7AB-B6C45D0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00650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 Schema 與範例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28E57-E503-4FFD-A741-470DB0F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38200"/>
            <a:ext cx="2362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19050">
            <a:solidFill>
              <a:srgbClr val="7DB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A7D1-D16E-4241-AAAD-06E57BBD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D3159-E870-4A22-9216-8848EA4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核心資料表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1CCD0-8A38-4DDD-BC08-C0A5405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1466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7D6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DEC3E-93A4-4A81-B6EE-0DF164C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PK · FK · CHECK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TRIGGER ·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BFDBD-C8FA-49AA-8868-43CA504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742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rPr>
              <a:t>NFU 資料庫系統課程｜小組專題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DD425-079A-40EF-BC54-B2025C0B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8170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02851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AD957-20FC-43B8-B69E-E610493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9E115-DDB6-4FE7-B3CF-E5DC9F71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7962C-A27D-4A48-9BB6-6ACA18B5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REPORT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6BF97-FF4E-45A4-896F-4A29B48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Part 1 與 Part 2 是同一套設計的兩種表達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303B2-C96D-48CE-9A23-017538D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先以 ER 模型確認資料語意，再以 SQL 將規則落地。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ECFAD-AB1B-4CF8-B1EC-D672E490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466EA-8B8A-4E65-B496-6E12C0D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E02F4-13FE-44F8-8C47-C17F3A31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1F567-82B5-4343-8D9F-5412991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667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6F259-6D28-4771-A641-9EFACDF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91912-9426-4DEE-9867-123DDCC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PART 1｜概念設計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92DF-890B-429C-A73B-50B2C45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286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題目與應用情境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系統需求說明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完整性限制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ER Diagram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關聯與外鍵配置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1F75A-F6BB-4713-81D8-1EBD8C3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4667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89AEE-7D7F-42DE-880B-A106A847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F78B5-FBBE-4755-9577-BE04F84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PART 2｜實作驗證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C1786-18E5-423D-8AAE-9E0155E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286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完整 SQLite Schema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範例資料與查詢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防衝突 Trigger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索引設計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錯誤案例驗證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BB182-1D34-43BA-A099-FC57CB5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76650"/>
            <a:ext cx="1200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E6D9C-A2EE-49E5-B9F4-CF5533E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2330B-37C3-491E-82B7-E9F8D12F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34367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CADBE-D841-46D4-918C-A813EF56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DF7A5-08F6-4E85-9A8C-CA3B5872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09DF4-5CC1-4E0D-9E03-1663407C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09C4-FC5F-41F5-8CC1-0A489E9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一套資料庫必須同時處理固定課表與臨時借用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E432D-883F-4442-B1B2-79227D0F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教室資源有限，衝突檢查與審核流程是所有情境的共同核心。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21534-F150-4921-BBBC-CEC95FD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BDDEE-B102-41FD-A345-700F4F3D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98069-D0DA-42CA-919F-E3E02EA2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8D48C-64D1-44EF-990C-BC7D3E46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D0AA-EF07-4CF4-B024-61461479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68FFC-69BA-4EDB-A1FC-BEE779A4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表定課表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C1D4F-C5F5-4C71-8C4B-284EE2E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每學期匯入固定授課教室與節次。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86660-99F2-49A3-A860-47B1ECD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47925"/>
            <a:ext cx="800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6C7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9FCB9-8B99-4582-9ECE-84C0275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A229D-0A23-4D0F-B536-BB94FC1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696D2-B7E3-4DE8-9A55-ABD08C5A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24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臨時調課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9A29E-1B88-4DB9-B1C3-9744000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教師變更日期、教室或授課節次。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79332-1299-493C-B1B5-D928EDDA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47925"/>
            <a:ext cx="800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6C7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C4ED4-C08E-4683-9AA4-1F2B54AB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95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48F56-F04F-42C3-846C-BC30A45C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2987D-1F29-4402-9BC6-27122A7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專題會議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27D8D-3908-4D5A-B8AB-ECBFABB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0045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學生借用教室進行定期討論。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0A2A9-85EB-499B-B1CA-44020D3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800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6C7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4FD77-5043-45E4-8DB1-FB72E26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968C-61E9-46FF-B03A-0772B33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1227D-A8B6-4B34-8A72-167793A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班級活動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61ADA-7A29-471A-8A02-405C66D3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班會或系上活動申請臨時空間。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DF830-2DA6-4650-AA88-F0EBD5D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47925"/>
            <a:ext cx="800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6C7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8C971-93EC-4979-B6A7-0F4C0E6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95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F6C73-27F0-4878-A75D-8226D68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669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A2E83-E2D8-4ABB-89EB-DE8E22A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2420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考試安排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95BE1F-BD6E-469C-B1DB-1D8617E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課程另外借用考場並避免衝堂。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BE4662-9643-438E-9E6B-C3EC3923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共同規則：教室、日期與節次不可和既有固定課表或已核准預約重疊。</a:t>
            </a:r>
          </a:p>
        </p:txBody>
      </p:sp>
    </p:spTree>
    <p:extLst>
      <p:ext uri="{BB962C8B-B14F-4D97-AF65-F5344CB8AC3E}">
        <p14:creationId xmlns:p14="http://schemas.microsoft.com/office/powerpoint/2010/main" val="651436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8842A-3FE1-4A6C-9438-CC531FF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96DC1-7797-445D-8FFD-6650DB79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40C05-3701-49C6-B597-C47C499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04AC5-8223-4E40-AB27-B7ABD2C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需求不是功能清單，而是資料模型的來源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E9837-67EF-421F-8D48-D4D49844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每一個使用者需求都必須能對應到資料表、欄位或限制條件。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AF7A0-5C4C-4107-968D-A685E0F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A50F2-DFEF-4200-B20E-21AB96F8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236CE-67DF-4895-9EBF-3A2C673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0B899-394C-421F-8A3C-B1819B8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143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867C8-4433-46BC-BDCE-41CC1D9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5143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F61AE-DCE5-4141-868D-A56668A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功能性需求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08087-1313-4076-B9AC-E3B3BBC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非功能性需求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74CF5-0990-423F-B17D-6BF78458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3CB4A-6A78-482F-AF04-63CF891F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教室預約申請與取消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E4820-3754-472F-B21A-3AFBF68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3E2FD-8FF7-4920-BBEB-9B25A81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81375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教室借用狀態查詢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0C81B-D4AF-4864-BED9-F0E2EED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07EDC-F35D-4E6A-9685-A92D315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管理員審核通過或駁回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8C46A-24DD-4D85-99DF-9B60D08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B7336-B4B4-4CC6-94E2-3FCA289D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申請結果通知與未讀狀態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33123-3B67-4D5B-8DBB-C69B5202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D0B6D-7DE4-4F0F-A710-6A4C353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固定課表與長期借用匯入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334D4-C8D3-41E5-B6AA-12D19559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DD8FB-7218-41DD-9890-0B100FF2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1148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個人歷史與管理員報表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971C1-058E-4BF8-B964-BC48029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F9D9A-2578-4F55-AEB1-67BC0EC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67050"/>
            <a:ext cx="41148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身分驗證與角色權限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23180-68DF-46A0-B893-FE06DD9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DA895-454D-4B50-A497-DB7291E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24250"/>
            <a:ext cx="41148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送出與核准時再次檢查衝突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B67A8-EB36-4E34-9220-8B578895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4DB63-DBF1-41B2-A575-4F43231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81450"/>
            <a:ext cx="41148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資料需可追蹤、可稽核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EF95E-0903-41D9-90E7-57AB573C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32E8C-CF6D-431A-991C-4E9C2C8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38650"/>
            <a:ext cx="41148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常用查詢需配置索引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641F0-4B6D-4D22-A959-0F98989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218AC8-9147-47D6-9975-420AEDC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95850"/>
            <a:ext cx="41148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保留歷史資料以支援報表</a:t>
            </a:r>
          </a:p>
        </p:txBody>
      </p:sp>
    </p:spTree>
    <p:extLst>
      <p:ext uri="{BB962C8B-B14F-4D97-AF65-F5344CB8AC3E}">
        <p14:creationId xmlns:p14="http://schemas.microsoft.com/office/powerpoint/2010/main" val="17197816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8595F-4E8A-4D34-92C1-A337C9E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8E7D3-8EC1-4B5F-930E-416B7DD8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ECF20-DB1A-4FE3-BDA7-F0558147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25DEE-A872-485D-A7CA-7249928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每一筆借用都經過查詢、檢查、審核與通知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B1880-88C5-4ECE-9C61-1AC83A3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待審核案件可以並存，但核准前必須再次通過衝突檢查。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7F050-59C6-4B20-B400-F03F60D6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C465A-5C24-4627-9D89-99CDA335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266EE-26A9-4FA7-96F7-AD3AE7A2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665F3-A869-40C4-AEF4-103C4F02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C8478-64C0-4AA5-A637-E80F25B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07200-2104-42F6-AFF1-8E89293F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查詢教室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1551D-E2AB-4F08-B34A-94DC621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依日期與節次查看可用空間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CF285-19FA-4C6D-B77D-99D9E592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B7C25-C0BA-41E6-A54D-210F8FC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67FAB-978D-41E2-A9B4-FCF64753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0BE64-4C37-495A-80E2-E2C33691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提出申請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7A652-D344-455C-A1BE-1E4DF266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243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填寫教室、時間與借用原因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EE625-61AA-4507-8FE3-E17E991B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9F36A-8D52-4572-A1D2-AA908B79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E5B87-ADC9-4717-B4D5-78071F1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37817-1631-49D6-BFDA-726C7D6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05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衝突檢查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81F10-52C6-4ECE-802B-CAC0EAC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243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比對固定課表與已核准預約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9993B-B327-4C08-9A1A-DCE2AD2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A7216-B9E3-41DE-9F79-A875F994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A1EF1-4E2C-45A5-99E6-9204B4E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574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0C7BA-A0EE-435D-8F81-BCB574F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管理員審核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C51D8-7864-4B0B-9507-05CAC93A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核准、駁回或保留待審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06A67-4BCC-4FD0-8756-A5C3CFB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0ACE1-6C3B-4DB7-9AC4-882C9AB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EFDA4-5A95-4CD0-9663-0BAA05B1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574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2ECA5C-87CA-43F5-BE39-6583A16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通知與歷史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A10EF4-42A7-46B4-8E00-F9B86A5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243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寄送結果並保存審核紀錄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236190-DCB3-4A77-9424-64644DE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EB"/>
          </a:solidFill>
          <a:ln xmlns:a="http://schemas.openxmlformats.org/drawingml/2006/main" w="0">
            <a:solidFill>
              <a:srgbClr val="D5E8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D8D25-8B0E-4D6E-B0A0-6378EEC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499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核心資料表：bookings + booking_reviews +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381838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D7E09-6DD2-4D28-8002-2F13D556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482D2-C64C-4BA4-9438-6CEB005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C9F41-C9D3-4316-9B95-13B5D83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INTEGRITY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A3BDC-044C-43AE-9029-7601491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完整性限制是資料庫必須守住的契約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55490-792B-4E74-8E34-A53A205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限制條件從欄位層級一路延伸到跨資料表的商業規則。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943C5-928B-40DE-8ED9-D3BA960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E0A5F-05C9-49DC-87EA-1735F62D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F2D7C-C888-45AE-B671-2FE7353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8E747-9545-40BF-8A4C-7782E62F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010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C01E5-AC6E-4DE7-8485-A08A29C2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8A6BB-659C-4AD0-A5BE-7F10084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實體完整性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3F443-6250-4142-B5B0-7ED8051B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62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每張表皆有主鍵，ID 不得為空。</a:t>
            </a:r>
          </a:p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例如 booking_id、classroom_id。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A08A6-9FA3-4809-93D2-009E4DC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010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128A9-14FB-463F-ADFB-9878D54D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50F23-AD95-49CA-9262-B2E342C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參照完整性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27A24-08DE-4DC2-AA3B-E5DE49E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62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外鍵只能指向既有資料。</a:t>
            </a:r>
          </a:p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例如預約教室必須存在於 classrooms。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7C67A-E213-4E49-8153-8936B402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5010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232BB-8F37-4039-A0B2-99D4C69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0101B-1C34-4B8F-8734-58EE14DF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域值限制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AF3CA-595A-41E5-9CAD-3E98781E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62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角色、狀態、星期、容量與節次皆有限定範圍。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F640B-0FA3-43BE-A3DF-AE45C60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010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8093D-3852-40E2-821F-B4CD1B1B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D"/>
          </a:solidFill>
          <a:ln xmlns:a="http://schemas.openxmlformats.org/drawingml/2006/main" w="0">
            <a:solidFill>
              <a:srgbClr val="B9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15402-658E-46CE-A078-86CB3D3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商業規則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889BC-B258-4FA9-904B-84CA01C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3400"/>
            <a:ext cx="462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同一教室的固定課表與已核准預約不可時段重疊。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6B98A-8462-42E6-8F46-61D0E4C2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84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Appendix B：設計完成後必須檢查 PK、FK、域值、基數與交易支援。</a:t>
            </a:r>
          </a:p>
        </p:txBody>
      </p:sp>
    </p:spTree>
    <p:extLst>
      <p:ext uri="{BB962C8B-B14F-4D97-AF65-F5344CB8AC3E}">
        <p14:creationId xmlns:p14="http://schemas.microsoft.com/office/powerpoint/2010/main" val="11405814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F401E-6CEC-41A0-9C1E-6BF40BA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B167B-6EAF-4E56-8942-7081463C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63CDF-D35C-4220-9D86-807634A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ENTITY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15501-8FD2-420E-A3FD-D00488E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十張資料表把主檔、排程、交易與稽核分開管理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8365D-065E-480B-ADFC-99288C25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拆分責任可避免重複資料，並讓每張表維持清楚的 3NF 邊界。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EC4D-B443-43E0-B39B-FEBD762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33D48-B4F8-4939-A208-35E787C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0A0AA-C466-4624-AE86-7D557EA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44E89-481C-44D6-BFFC-7238A443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438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E1BEF-B819-4327-8232-E2D0FE2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7C2F1-2FC7-4B06-B2C0-8F2852B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3BEB9-BF21-4294-8146-78B4DD1E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A7649-7EB4-4410-8BB8-6CD18E4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E0AB4-BF86-4F71-918F-D2C3255B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F9BC4-97FB-4F24-AD24-96F3DE48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classrooms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D3024-CD9C-42BB-9322-11B6DA0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7C4E3-56E8-406E-8F01-AC0BEB8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39060-A0E6-427C-BA49-A2799EF1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F9869-BFF5-481E-BF83-A322572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booking_statuses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1912A-7D81-4AA2-A50A-E4BC5E6E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438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895F5-D13F-4FE6-896C-9E45404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A366F-1291-49A9-B69A-1D8E352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71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固定排程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0C1A2-1715-4358-9802-8059E19A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0AE54-F89F-4A97-92F2-E18C3DE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course_info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6CEEB-7DEC-417C-902F-B9300B20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E807F-0BE5-46DD-B464-C2C88682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19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course_times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6E52C9-6F4B-4CC4-B27A-8A8024A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438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31124-215A-4CF3-B318-2609059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691FB-1C64-4CBA-BDC8-082167EF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71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借用交易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04DDF-7334-41A5-90EE-1D3A5C4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C716D-0977-49E3-A1BC-EA9D9A01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long_term_bookings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94BCC8-6F8E-4D87-8F85-228945D1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1E077-1A2C-45F8-B520-9C16684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bookings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AF719-CFC5-4664-A301-3BE55F4D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2438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0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BE73B-C086-47AD-9D2F-B6DDA038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C1E6E-A877-4DD8-B3F2-E70C4A2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71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稽核與通知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DEE797-4B9D-492E-9E8F-F940E35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147CFF-580C-4A58-A7E8-4358924B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booking_reviews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8D022E-B425-48F1-BBDF-35219B0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83AA8C-6A00-4D3A-B69C-CD60C04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1276298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AEA0A-4FAB-4FBB-87D4-860DA47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90E1B-474D-4BB6-90D5-DAE68257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29262-20FF-4EE7-B13F-458B7B8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ER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E33C-B4C8-43B0-80D2-D55AF0FD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十個實體以 bookings 為核心，完整涵蓋排程與稽核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F7531-649B-4BD9-B167-14A1B65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主檔、固定課表、借用交易、審核與通知皆能對應至 Part 2 Schema。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B337E-9E5E-4F1E-B34C-89443DB3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DC2C9-C471-41AA-92D1-DB134D9B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9FB3E-CC7C-4D90-B2A3-40415D5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073B-576C-442F-9667-4B50C7E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FC86F-C6B0-4645-8EA9-363A4F6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78685-B66E-43CE-BE08-F3A6B7C6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37734-ECFF-4917-A9C3-9FC8797F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user_id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23332-9032-4E78-9919-E52BF727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4B2F7-1094-46B3-88C3-9592D7A5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FC3CA-AE61-4730-AEC9-E1CFD6AC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classrooms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0DA31-801E-4219-9434-5269270A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classroom_id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65C98-B78C-4423-B538-07CC41A0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53A60-DDF7-4AD3-9A5C-26BD87D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9E170-E056-474F-86F9-D0897AE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0D91A-C55D-4268-BC5B-AE2C0F6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section_id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start / end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D7565-0B75-4429-B30A-3DC36A0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1924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BA9F9-0115-4927-A2BD-3BDFFCA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1924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40ED1-D154-409C-AC0C-94610AD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1050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course_info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696E4-E4FE-4E9E-89E2-58EC7835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course_id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teacher_id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E6FD1-4590-4713-A7B8-2C36BD46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924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0ED7D-BAE3-4270-9C4C-6EA3C49E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924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5DCCF-EC9E-460D-A518-D254CC1F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385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course_times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FB490-33F1-4A67-8C47-D4C30EE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719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course_time_id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course / classroom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weekday / sections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05CF3-14E1-49BE-B387-BEC5605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171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AF421-63F4-4B99-AB58-4BAF9F8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94C05A-FDC1-4A29-B6BF-3B13AE84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05175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21D75-EE0E-48BC-9B63-1F0492E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booking_id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applicant / classroom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date / sections /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03098-F5EB-4DDA-A43E-79C09B1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45B7B-8DAE-470C-9786-2889652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209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81AFA5-7B83-4676-BAF6-03B5104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9547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long_term_bookings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CD3703-E1D7-4088-A7E4-A4DD635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long_term_id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applicant / classroom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dates / sections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5C8205-E597-4C23-A184-F7DD572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076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06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2DE9A6-AB8E-4F0E-81EA-DD4C0F4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076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0F7E2F-D2D3-4C9B-A2BF-9CADFDE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33625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booking_reviews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1CA62F-F48C-416C-A112-9EAD40A3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review_id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booking / reviewer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23C857-A030-4250-B50F-B26FC25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2076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06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BEF599-2A1B-4C50-86BC-0162D65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2076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B453C7-9CA8-4580-9EC6-0D08698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010025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notifications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89FF26-132D-43C3-A011-183027E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notification_id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FK recipient / booking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A3CB62-5C81-4DA0-AADE-3173FED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0150"/>
            <a:ext cx="2171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06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E7A1FA-F746-450C-968A-3D37BA4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0150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6A85DE-9A68-4CAA-AF11-ACE4170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76825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booking_statuses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2C817D-996F-4DEA-8CE6-4CC8D41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status_id</a:t>
            </a:r>
          </a:p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status_code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A4CF2-8763-4385-B837-06FB160F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288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86E050-968A-4C60-965E-38A020A1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285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B48883-FE1C-44B2-A102-05FE59D1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3419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F6757-BA6A-4F04-8953-B8195FAF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B01B06-B063-41FC-A9A6-45E6794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623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5DE34D-91BF-44C1-A442-379EC890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62375"/>
            <a:ext cx="285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A7E0EF-D517-4DE5-B0CA-8942A58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1C7FE3-BBFB-4936-8F7B-7D4BCAD7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0957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23EFD1-6329-4782-B3C8-1975201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095750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C504BA-2AC7-4E24-A8F0-7CDA9809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95875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5D3403-B910-4AED-B93B-A0E7EEA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24350"/>
            <a:ext cx="285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685F23-FD5C-4EEE-A09F-675A14A1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3845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815364-82AA-47E9-BE5A-C59D3FB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066F99-8F83-47A8-9E78-27331B4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AB4F80-9E96-44B9-BA12-B9B5C76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411446-C545-411C-8492-2813260B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47950"/>
            <a:ext cx="285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010068-DA4E-42C7-93B6-F1B8162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4795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076236-8969-48B8-9D4B-FF48D90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572A21-285C-4E9B-BD8F-6BB69CAF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AD5565-6948-4282-A542-EBC9E61D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3434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C9570F-85D2-4610-9B4F-BBBB932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D84CF1-08C6-49B8-A373-EAEB5AFD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90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7EEF6C-DC48-4695-BBC0-8D2FD8D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192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A771DA-B974-4807-913D-FCDECF76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434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4E75B2-11E7-4581-A9FB-D9EBAB7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719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2B06F3-747F-49C7-98F6-A99F2D6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931BB6-5B8B-440F-9A3B-A61725BF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911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E47D01-1EB1-4F81-BC6A-C0977C74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B870A6-D659-42F8-B709-EFE79501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1942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FB1351-E229-41C4-953B-3C04A064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861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034139-DA8B-4079-8213-503ACE36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97745C-F827-48AF-A9D8-2CBAE047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194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A64CA2-92E9-469E-9459-A354845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79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1C0E41-23D4-483B-9929-7F5A0A97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3F2D84-D40E-4302-954D-E0AF7B0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C55E75-555B-4645-9984-9A1F1AE0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528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EE40A7-706A-4760-89E0-FF3CB62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4B7896-B57F-4CBE-8870-B2B14D1C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F6988AA-5B41-4A17-8695-76352C13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624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930221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07780-C26B-4823-A36E-0491519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19EED-90BC-46F9-AED5-56694513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AD625-3737-4474-9DA2-89FC4AB4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58B9-266A-4476-81C1-D2773895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關聯基數直接決定外鍵要放在哪一張表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A5938-5E87-4B53-BF76-9C7CF48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本表修正舊版簡報中「教室借用」誤寫為 User ↔ Booking 的問題。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F4334-8D13-4B15-9465-34B29D5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835CD-990E-4CFD-9CD0-57DB173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73B6D-F2ED-4546-8FD7-A98C720E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707B2-4EAE-456B-B29E-4FC9D01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3E1A-8195-4C1E-99AF-3B3F7C96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74F17-2D11-4E9F-9D3F-AA4CF72D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57400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23C1C-C508-4DF4-9502-9E23EB7C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12407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父實體 → 子實體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87954-C090-434B-B977-F0C86766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F5CD2-F5A2-44CA-BD79-826FC27A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基數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508F8-1562-4923-96EB-0D26ECB9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0AD09-FC68-4393-AEC2-CA2E897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2407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外鍵位置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FEE90-D1CD-44F9-B738-13A0A545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910CA-139A-43B3-9ECA-E7F5D97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2407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業務說明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D356D-0CAE-4FE6-B8EB-2185E01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F0D86-9F8F-4CFE-B97F-7A26BFF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431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提出申請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B7F41-E9C0-499D-9E73-263C3FB5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86025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21794-8C7C-4FB6-9133-8585F9A2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users → bookings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9885E-557B-4522-B271-D6A3FF4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86025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611BD-F140-463F-8DD5-E2E7F0F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4317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D11D0-9692-4C20-B2E7-20CD8C2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86025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70166-FC7D-4AA3-BA2D-B20D245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bookings.applicant_id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A7BCD-E4EE-4216-A207-97B7A2DD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2C0B0-5DFA-47F0-973A-89001DCA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4317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一位使用者可提出多筆借用。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F1CBF5-0339-4D3E-AF19-B8C3472A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E9BE0-2CEA-437E-9BEA-3347E0A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71800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教室借用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5736C-18E0-465A-AE8A-4B3600F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14650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9B39F-2745-4880-824D-34D461E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7180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classrooms → bookings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B65B7-F22F-4A32-A1AA-E83C89A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14650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C1FE1-1E38-4BE7-9D85-28AF64F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71800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56DFDE-F006-4C21-BD30-20B34ECF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0EB06-FDAF-4750-8FBD-F14C2BA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7180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bookings.classroom_id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5F1BE8-7165-4C8A-9568-AC00772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296E64-132F-43E1-A091-9E9F5511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718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一間教室可累積多筆借用紀錄。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A0245F-0C98-4C6E-BAEB-765CBBD5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F5EB0E-66E6-4194-B5BE-608840F4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0042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長期展開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4AE53-A436-4836-B6D2-802AC9D5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43275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2EA600-EAF4-481B-B30B-C0F93C6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40042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long_term_bookings → bookings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F52343-BEA2-41F2-9B01-C9849D7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43275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C50D6A-E843-42A3-8BC5-AE121A1D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0042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675F88-D899-4A90-83F2-751C9CDA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43275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5CC851-B1B9-42C6-AEA3-8F0DFE9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0042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bookings.long_term_id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7CCFE9-B1F1-482B-9BF9-610A398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43275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FA57D1-4A5C-4C60-A185-1865091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0042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週期性計畫展開為實際日期單據。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2C530-C7E8-48E6-A06E-8BF4BAF9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B07172-334A-44FD-8B1C-B81071F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29050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課程安排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F5130B-1D1D-4999-8C50-54E8296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E2D628-1161-44CB-AE4D-E217FEB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2905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course_info → course_times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76564F-1DD3-468A-A9C3-765BC50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71900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072051-62D3-4DBD-A110-0BC111E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29050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4706EF-ECF9-4A71-B9E3-BC8D025E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3C394A-A48B-4DBE-B0C8-F35C3877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2905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course_times.course_id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0EC461-EB35-49A3-BD42-8273661B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71900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78512F-393A-4B12-8DCD-A1D945FA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2905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一門課可在不同星期安排時段。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8A7CC0-2B7E-4A7B-B8FA-D9EEC08A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15FCF1-16C3-44BB-A135-5C2D351C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576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教室排課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EDD8AC-5EB4-40D6-B796-718CF464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00525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C0B9B8-A16D-4563-A4EB-270F1A63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5767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classrooms → course_times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F9B126-B709-48EC-9B93-EEA5CFD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3496F6-4600-4A45-AAEA-5FE09F5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5767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B38A9E-8E0C-415C-9B20-69B66E54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00525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D7E4CB-1826-4538-9CE4-02E28C6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5767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course_times.classroom_id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F20477-13E3-420E-AE00-3A96095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00525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5E8197-2C23-406F-B3F5-3E138FD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5767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固定課表需指定唯一教室。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72D67F-0AE9-4C37-A887-AE5C149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D2E3E6-1838-4E36-A232-57ECBCA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6300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審核歷程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3D4262A-1D04-47EA-87B2-B7DF20C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E7D20A-9755-4F65-BD01-4E246EA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68630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 → booking_reviews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549D81-E097-4410-832C-4791DBF2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29150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97AFD6-6705-4D1C-9C5C-E0F848F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86300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4B7AF9-1761-4079-80A0-11DC4D0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183686-779B-491B-8820-FB08AED7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8630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booking_reviews.booking_id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9725D6-DC26-4244-83E0-D58D6842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F40A89-59A4-4279-9E38-76F7B0B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6863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每次審核都保留時間與管理員。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B4E395-3DA6-4875-AB99-592CCAA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200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ABE2B6-CDFB-4E96-AC42-84A04351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1492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狀態通知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30A77CC-AF40-4A15-8CA7-E5C87F8B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57775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C52D1F-C981-487A-8EE4-03EF21C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11492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 → notifications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B958533-819B-45E8-A2EF-7C3F011F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57775"/>
            <a:ext cx="685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503A96-A47D-4DB4-ADAF-E929E76F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1492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0F627D-FF12-4E6B-AE4F-BD19582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57775"/>
            <a:ext cx="2419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BF4C49-4376-4673-B790-17055B5C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11492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notifications.booking_id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0822F6E-DFE5-4085-B0B1-3336D83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57775"/>
            <a:ext cx="4362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DEFC20-A924-41CC-AC25-73DB7F15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11492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申請結果可產生多筆通知。</a:t>
            </a:r>
          </a:p>
        </p:txBody>
      </p:sp>
    </p:spTree>
    <p:extLst>
      <p:ext uri="{BB962C8B-B14F-4D97-AF65-F5344CB8AC3E}">
        <p14:creationId xmlns:p14="http://schemas.microsoft.com/office/powerpoint/2010/main" val="10758265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C1453-1EC3-4DF8-8DE3-336AB642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0C47-90BA-4A66-B990-50B73DE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546B2-EA2F-4002-BFC9-1F826F5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TABLE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81498-46DF-43E4-99A1-3ED9F84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ER 實體已完整映射為可建立的 SQLite 資料表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493F8-258D-4104-A27C-26F2073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Appendix B 要求每個實體、關係、鍵值與限制都能在資料表中找到落點。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86B68-5AF5-422B-8E6D-C351B3B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D228D-3B40-46A3-8AC4-33FB039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54FED-80E1-4CE3-BDC2-310211D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86AA0-0808-4232-9AF9-C3BE960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F921A-6390-4D24-903C-CCF231E5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193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D4BF1-BBE5-4D73-B3FE-E97FA98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52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84738-0AB3-4AA2-A879-BD4BD3D5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193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C3848-C0B1-4C40-AA02-CD09FA7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C0F37-BEC8-4E0F-9F82-F26B91D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19300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重要外鍵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34AE-D0A1-4850-94D3-E748DA16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52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1F416-D5B4-4F74-A74A-DF16CE07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19300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A62A9-1402-4BA3-B27F-FD280B84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6E157-02A2-491F-9DD4-2584008D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11DB3-33DA-4401-B7B0-373D656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33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2494F-40BE-4306-B0CA-40FA105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90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user_id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C1B2C-4A15-4AED-8823-8DA6E47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28EDA-1889-4A5B-873A-3403055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90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7A3D4-6617-4F1A-B7FD-95BF4520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01F1D-19C7-449C-A9B2-FDB21B5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90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學生、教師、管理員主檔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559D1-E1DB-42CD-AC79-CF6BEADC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2440F-0BC6-43F4-A737-3EC4606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classrooms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B8943-E9C7-4D06-8F13-09E0794B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14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13EF2-403D-4F3E-815F-97DDB3DB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1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classroom_id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8A712-90DB-414B-994C-FD2F064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266AB-41B1-4BC7-AF2A-70A130B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71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1BCA9-CD9E-4BC2-AE62-69CF100C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14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53653-8F9A-4E8A-A634-575D92C8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71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教室容量與啟用狀態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5A9C44-25B3-4FB3-BB83-B499429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F8983-D32C-438E-9FAC-FF3A59F3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sections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9CA2C-63BD-49EA-B284-3A48D6E3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95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4BBDDD-D35F-4E6D-9C88-AFA5B44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52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section_id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9A4D8D-9FB9-43DA-82AF-97D6CEAD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416BEF-E043-4F01-A193-B3C20770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52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758D2-44C1-498D-88E4-F49F683B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95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58C071-7FE1-4690-ADEC-290F0BA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52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學校節次與起訖時間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8A5A6E-3E54-48BA-B859-DF524FED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75EA23-8346-4175-B35C-B8A9DD10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33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course_info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61B26F-E5F3-4C11-A6AD-7BA381DF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76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503A74-361F-4A4F-B85C-CE5F651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33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E6303D-5145-4C15-91B2-D3D87758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22CCB1-6157-4D65-AA82-05112FF4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33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teacher_id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E45488-D17D-478E-97E5-B8F3C55B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76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DA69D9-E794-4039-8703-FDE76DF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33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學年度、學期與課程名稱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06C79F-DFF5-4D4F-8161-111EDDB8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9F6DAB-E655-4D5C-92F2-26BFD2ED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14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course_times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E2C800-BC20-47ED-9F2B-EABE1B6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57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F07764-A5B8-477A-88DC-AA208E1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914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course_time_id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97DACB-6975-4627-80D3-721592B7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0F48BA-B242-452B-9C28-3CFF64A2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14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course_id, classroom_id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69BB6B-5AD2-41F7-A12B-830BDB11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57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AF6C5B-43A2-4398-916D-3155559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14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固定授課節次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221516-B94A-454E-84B5-DCBF4706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5ECCD6-FEC3-4B74-BC48-132865C1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95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long_term_bookings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5CE33A-44F6-4561-9F0C-A4FA484A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38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49823F-D41F-41EE-B8E7-0B8BA23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95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long_term_id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CCF001-0E3B-4522-A0FE-D37B5D9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DEE8F5-7FE0-42FC-B8F4-0E12A3F0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95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applicant_id, classroom_id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3725F6-5321-4B3A-BF31-AD08479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136D4C-85F4-49F7-BE6C-21F8FF8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95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週期性借用父單據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85030D-8CF5-4E02-9929-5108A6B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26E723-18FD-4C2A-B7C7-042B252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76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A5541E-EA39-4E30-86DD-B7CD58B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19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89B172-0F3B-470E-9FD3-7AE35584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76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booking_id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739F4E-3861-42F1-8063-0BA2AB3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EFE83E-5681-41E6-8D9D-0642DEE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76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applicant_id, classroom_id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B23E4A-1DDA-4911-BBCB-78D5704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9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EBC961-2DE8-420A-A9C7-11F24A01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76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每一次實際借用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5F03E2B-1F80-418D-9297-9D7CF02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ED169A-F58C-4261-A76E-017F197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57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booking_reviews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D182DE-4945-468F-B7CB-D0DFEF0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00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489961-70BA-4B0D-BADA-5ADB1FE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57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review_id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82CC8D-9D15-4DA9-9B7D-DE10C91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00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4D8111-89C1-4F0A-80CE-3689C7E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57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booking_id, reviewer_id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1E79B0-26EA-4DFB-96F1-0A1ED3F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572FE2-55DB-4A4D-A594-B1531505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57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審核紀錄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64BDE1-996C-4A83-866F-626E245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8D7B6D-86FE-4592-8238-12DFFD1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387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notifications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9673FB-97C1-498A-9116-74F9B6FD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816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08E2F5F-C64C-464A-8ED2-729BE045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4387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notification_id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A2D69C-AB56-4B6B-A645-430E1D09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81625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8EC002-5A8D-4632-B973-876212F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438775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recipient_id, booking_id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0D33AAF-8F9F-474E-B742-C74FEFC0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816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1ED46BF-2CBB-4F34-9A1C-F5F64941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387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申請狀態通知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EB5E20-6C69-4475-A026-234A93B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另有 booking_statuses 作為狀態主檔，避免在交易表中重複輸入文字。</a:t>
            </a:r>
          </a:p>
        </p:txBody>
      </p:sp>
    </p:spTree>
    <p:extLst>
      <p:ext uri="{BB962C8B-B14F-4D97-AF65-F5344CB8AC3E}">
        <p14:creationId xmlns:p14="http://schemas.microsoft.com/office/powerpoint/2010/main" val="12711507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5A9BF-C5FE-48BB-9B8F-3DC24EEB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CC307-E74F-4DEE-8B12-342EE04A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E1D51-28AE-4162-BA89-E412C19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SQL PROTECTION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7DAD3-8401-4C14-9A0F-D6AE7C65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五層 SQL 保護把完整性限制轉成可執行行為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1A1F0-DC9B-40E9-BE9A-6F7FC293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Schema 不只建立資料表，也主動阻止錯誤資料進入系統。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EBD75-761C-4755-8FE5-09C9AD80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CE415-CA12-4462-815A-C963CC0C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0BE55-ABE2-4439-A3CB-F2DCA0B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BAABA-A0EE-4450-B736-DD7FC1AD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8BCF4-2F96-46EB-AF81-C2A1520C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19DF1-CAB8-4B09-8FC0-525E2E1F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F4058-1CBD-4CDA-868B-E1C2939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PRIMARY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03C11-77C7-4D7E-BF0F-83732E0E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每張表都有唯一識別碼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2BE86-2394-4161-A1E0-D19B674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24B9A-11E7-4665-947A-D9ED63E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FEB98-D515-4024-9A93-5DEF07B6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4250A-C1DC-47E5-B9CD-F2E8ACD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FOREIGN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4D875-0246-4FBE-A4FB-438EF55D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預約只能引用既有使用者、教室與節次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5D5F4-8763-46C1-BED9-98D8C29A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6B426-F882-4C38-B925-B88FEB6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76235-44C2-4342-826A-6B231E5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588F9-8B4D-4913-AEB4-5ED4C52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19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0D6EC-A13F-4A8E-B1F7-4FFA099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限制角色、狀態、容量、星期與區間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9D958-A43C-4DA7-93D7-03CE642F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5FA3E-4F21-4041-9B15-B6FB19B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10436-CD3F-44E3-9699-6335FD93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4E2CB-98AD-46EF-8AB0-892518AC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43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DE989-716D-4B14-B19A-479B070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阻止固定課表與核准預約產生重疊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D3B0F-7770-4305-AA4B-6BD68013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D"/>
          </a:solidFill>
          <a:ln xmlns:a="http://schemas.openxmlformats.org/drawingml/2006/main" w="0">
            <a:solidFill>
              <a:srgbClr val="B9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0169D-332B-4DE9-804A-E6621E22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BCD71-A4C5-4752-BE09-03059079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149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0">
            <a:solidFill>
              <a:srgbClr val="E7F0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FB7D1-7E0E-4259-B030-391DEE42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INDEX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240D20-F982-4C8B-B428-A08156C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加速教室日期、申請人歷史與未讀通知查詢</a:t>
            </a:r>
          </a:p>
        </p:txBody>
      </p:sp>
    </p:spTree>
    <p:extLst>
      <p:ext uri="{BB962C8B-B14F-4D97-AF65-F5344CB8AC3E}">
        <p14:creationId xmlns:p14="http://schemas.microsoft.com/office/powerpoint/2010/main" val="13495223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7D57A-44C6-4217-8C62-B512DCF5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60236-1D36-4632-8EEE-1B23FBC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85DB-A1E7-4590-B94F-93BD9041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C1D54-4069-4423-9989-5CBA133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一筆專題會議申請會留下可追蹤的完整資料鏈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D754B-71D0-45A8-83CB-2A64E04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範例 SQL 將主檔、申請、審核與通知串成可重現的交易。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BB21F-C5E8-413C-BD01-195F390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4091D-4552-4DCE-8D83-7FA333BA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1AE39-67F3-46C6-93B0-805A35EC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69B9D-448B-42FB-97C8-450DF58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23B44-4095-43CC-BBCF-1FE25C7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69267-4199-42D3-BFD3-E0348043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C7523-8272-4CA8-A4B4-86F1355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B672D-936E-492F-AF54-6F086E5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41243149</a:t>
            </a:r>
          </a:p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學生申請人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FCF29-BCC6-4FDD-A591-67F5C059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38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1DEB2-5585-4534-BA6A-42E6FA2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A7DE5-3395-492D-894B-EFFEA733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9534A-359D-421B-9E9A-6A7FA1F1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D692E-AAB7-49C8-97E8-CE0A9DF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classrooms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DED0B-CD3C-4BAE-B41E-12F7550E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B205</a:t>
            </a:r>
          </a:p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電腦教室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DB204-B43B-49A0-9E06-E3FBD15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38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A4D85-7CA6-402D-A39D-CADCADD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2F518-AD2F-4E2C-A28C-1AED55E4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6C5B4-DA11-4FB0-A591-32C1994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F5866-0175-4F71-8C15-B6D6486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bookings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EBEF7-F30D-4A9C-AF00-32C6116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76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2026-06-08</a:t>
            </a:r>
          </a:p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第 5–6 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2EB5B-FCCE-4814-A546-88CE5CFB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8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3B68A-DC5B-4DFC-A6D8-FA2C590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8B4EA-5CD9-418F-8BB3-BCADB746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D2563-9F91-41A5-99DE-FD7BEB2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A5AEE-CD2B-4058-B958-29A511C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booking_reviews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503B1-6E87-4A85-BD1D-41D6979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管理員核准</a:t>
            </a:r>
          </a:p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保留意見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D3E0D-6381-4D1F-B9CE-1AA77459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52800"/>
            <a:ext cx="38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86B41-7912-4174-B724-96888ECF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14600"/>
            <a:ext cx="1943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8F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D09042-9A0B-4A69-BFD2-749CFB92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7605B-B717-4198-9682-49B5335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66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4199F-77CC-4A28-A87F-088A88BE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813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notifications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A9247-E15B-438E-8913-174A1B0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借用申請</a:t>
            </a:r>
          </a:p>
          <a:p xmlns:a="http://schemas.openxmlformats.org/drawingml/2006/main">
            <a:pPr algn="ctr">
              <a:def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已核准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3F74DD-8AE7-4EC8-B694-D54A17F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67300"/>
            <a:ext cx="758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EB"/>
          </a:solidFill>
          <a:ln xmlns:a="http://schemas.openxmlformats.org/drawingml/2006/main" w="0">
            <a:solidFill>
              <a:srgbClr val="D5E8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046758-4879-49C9-B657-A8935D8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720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Part2_examples.sql 可直接建立範例資料，並查詢指定日期的已核准教室借用。</a:t>
            </a:r>
          </a:p>
        </p:txBody>
      </p:sp>
    </p:spTree>
    <p:extLst>
      <p:ext uri="{BB962C8B-B14F-4D97-AF65-F5344CB8AC3E}">
        <p14:creationId xmlns:p14="http://schemas.microsoft.com/office/powerpoint/2010/main" val="18521226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D1D703-9047-4660-852F-B29947C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DB2DF-6F9D-4948-80FB-85F1400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solidFill>
              <a:srgbClr val="147D9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993B5-F0B4-4E8F-A95E-DCB338AA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07ECA-2C46-402A-B506-3088EB3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Schema 會接受正確交易，也會拒絕四類錯誤資料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EA18-E5FC-40A4-90D7-FEF3000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57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786"/>
                </a:solidFill>
                <a:latin typeface="Microsoft JhengHei"/>
                <a:ea typeface="Microsoft JhengHei"/>
                <a:cs typeface="Microsoft JhengHei"/>
              </a:rPr>
              <a:t>測試不是附加工作，而是證明完整性限制真的生效。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E0AE4-45F3-47B2-B048-F774EA2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2053A-108C-4ECA-9000-9E74560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D74E0-BCD2-4F8A-9BBF-6A4C58DE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54F11-5CED-490C-BE2F-843FBC9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B8EDA-A615-47BC-BE5D-B440C130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2407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測試情境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6B119-2667-4D64-A142-70D98FCE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46CA8-AA52-47FD-9043-69C3BF0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24075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預期結果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45F56-55CB-4B41-82D2-B82CBDD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65A78-26C8-41CF-9E78-5FBAD624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240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保護機制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385E0-DAE1-43D3-8E19-C05410B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66975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E67DE-746C-4824-8635-D9ED327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建立合法使用者、教室與預約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A7F90-8973-4785-9B5C-2E59066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3505D-C79E-4D62-9CBD-D9591B6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接受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D4C4A-3594-4A7E-8947-75F92CC1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66975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4E78A-FB12-4DA5-B517-87F07A2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PK + FK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7FB6B-7534-4986-B08E-6CB70AF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9830D-1191-4BBD-8E7F-55879C6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預約引用不存在的教室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2B6E9-6E04-42AB-AFF3-D419C9D7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1C016-7B3C-4403-8154-C415E5FB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337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拒絕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E8692-9990-4010-B4AD-1556578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336D3-14BA-4435-9EF3-4DA05B3A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FOREIGN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313B3-A7E5-4C01-B6A1-20A6905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F17C7-F8E1-42EB-9200-602B4C9E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4327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結束節次早於開始節次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8A444-4615-4EC9-97B1-B0661F2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861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53864-AB04-47E2-AE90-8BFB4597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43275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拒絕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455ED-A529-4702-B6A3-A3266C44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1776B-4C94-4F86-B919-17C12E7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432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3CA46-B1FA-44C8-AE18-55BB72A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4C0FB-E4B9-4B61-B3E0-430AB41E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同一教室固定課表重疊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128F6-B7D8-4E79-B50A-AE0F341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7E1A6-36E7-489D-B69A-CC29C9F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拒絕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15658F-B6E7-41AE-BB19-482CFA8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7E19C7-348C-451A-AA64-E6228E1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52850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course_times Trigger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84B4C2-882B-46B5-BBBC-691F3F2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E7758B-F81B-49A4-A99D-0005DFF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6242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核准預約撞到既有固定課表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A47673-580B-4391-A7FC-D6535B4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0527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7EC8E-429C-45AD-9411-A750519A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62425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拒絕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1FE0B-FB25-41CA-B5D8-04D023D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05275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2607DF-681C-49A0-9A2B-1C9244FE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6242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交叉檢查 Trigger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AEFEAF-6B70-407D-8561-3FDD311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36B47-BCE5-493D-B48D-4970D48B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同一教室已核准預約重疊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44A2FD-D6CB-4D47-991E-59E526CB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3C874-DE04-473B-B32C-C82CCAE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720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拒絕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554A10-320A-4062-9D60-5EB2547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14850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2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8D04E8-64CE-41F9-88BE-D0CB57A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bookings Trigger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685F5A-E253-42B7-B948-834E371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73E1C0-B110-4A1C-A515-6FF5055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8157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待審核案件同時存在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6A8FE3-BB78-43C9-812F-3434F977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24425"/>
            <a:ext cx="1619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D1D05C-4701-43E7-8071-DE1A4562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81575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接受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E5405-EABF-42C9-AAF8-3EF7D592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24425"/>
            <a:ext cx="342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C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865CBA-6FDA-4DA2-8A71-4386880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815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B3A"/>
                </a:solidFill>
                <a:latin typeface="Microsoft JhengHei"/>
                <a:ea typeface="Microsoft JhengHei"/>
                <a:cs typeface="Microsoft JhengHei"/>
              </a:rPr>
              <a:t>核准時再次檢查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4316E5-8751-455B-A381-DC8D90EC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47D92"/>
                </a:solidFill>
                <a:latin typeface="Microsoft JhengHei"/>
                <a:ea typeface="Microsoft JhengHei"/>
                <a:cs typeface="Microsoft JhengHei"/>
              </a:rPr>
              <a:t>驗證基準：SQLite PRAGMA foreign_keys = ON</a:t>
            </a:r>
          </a:p>
        </p:txBody>
      </p:sp>
    </p:spTree>
    <p:extLst>
      <p:ext uri="{BB962C8B-B14F-4D97-AF65-F5344CB8AC3E}">
        <p14:creationId xmlns:p14="http://schemas.microsoft.com/office/powerpoint/2010/main" val="7966464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D0C36-F4D8-4C87-9115-925509E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8D845-9992-46BE-9E10-1724C9AE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CA312-E4EC-4121-9C07-447E54D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24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D7A78-3960-455F-AC44-C18FF36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971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目前資料庫設計已能建立、驗證與擴充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561F3-57AF-4E4A-85B0-3FFF99E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AE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AE0E6"/>
                </a:solidFill>
                <a:latin typeface="Microsoft JhengHei"/>
                <a:ea typeface="Microsoft JhengHei"/>
                <a:cs typeface="Microsoft JhengHei"/>
              </a:rPr>
              <a:t>下一階段：把 Schema 接上實際操作流程，補足資料量與自動化測試。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263B-C4B2-4088-81E2-EE3366A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9"/>
          </a:solidFill>
          <a:ln xmlns:a="http://schemas.openxmlformats.org/drawingml/2006/main" w="0">
            <a:solidFill>
              <a:srgbClr val="17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FC27F-12C5-4DC2-8616-893F6E30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1F327-A539-4DC8-9AEF-BA278EF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E7CD-24BE-46D4-9C90-A5AD981C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14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Part 1 正式簡報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19007-5361-4594-8F97-D35C5AEC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需求、限制、ER 圖與關聯表已統一。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1F7C2-5BAE-4F64-80C7-AFBB7E4A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9"/>
          </a:solidFill>
          <a:ln xmlns:a="http://schemas.openxmlformats.org/drawingml/2006/main" w="0">
            <a:solidFill>
              <a:srgbClr val="173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19DBD-FEFD-4DD8-97C4-546E798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062"/>
          </a:solidFill>
          <a:ln xmlns:a="http://schemas.openxmlformats.org/drawingml/2006/main" w="0">
            <a:solidFill>
              <a:srgbClr val="3E80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FC7B0-A080-4622-AD42-53D44C1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C678B-AE43-4914-A3F7-6EFABEFE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38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Part 2 SQLite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9F177-44BD-4CE8-9421-CF7F3C1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3852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10 張資料表、Trigger、索引與範例。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BD994-4DA6-453F-A201-1019E074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9"/>
          </a:solidFill>
          <a:ln xmlns:a="http://schemas.openxmlformats.org/drawingml/2006/main" w="0">
            <a:solidFill>
              <a:srgbClr val="173B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88260-BF32-4B53-BDBA-2884EF7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09C71-CF53-4636-85F1-BEF12BA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FC435-1AE4-4A25-BEA1-21CFF5E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624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擴充種子資料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36C8B-9444-443A-B4D3-E20AF29D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6242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加入更多教室、節次、課程與衝突案例。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2CB61-06ED-45EE-9EAA-548C91AE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9"/>
          </a:solidFill>
          <a:ln xmlns:a="http://schemas.openxmlformats.org/drawingml/2006/main" w="0">
            <a:solidFill>
              <a:srgbClr val="173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912D6-EB2A-4F52-BEE7-D9E2BF45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F36"/>
          </a:solidFill>
          <a:ln xmlns:a="http://schemas.openxmlformats.org/drawingml/2006/main" w="0">
            <a:solidFill>
              <a:srgbClr val="D68F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3B6DA-EF90-4626-9F8A-AF39CE9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7AA45-D514-4C29-B6EB-565AF473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86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串接操作介面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1190B-DEDE-4DEF-890A-C4CB8C2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8632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6E9ED"/>
                </a:solidFill>
                <a:latin typeface="Microsoft JhengHei"/>
                <a:ea typeface="Microsoft JhengHei"/>
                <a:cs typeface="Microsoft JhengHei"/>
              </a:rPr>
              <a:t>完成申請、審核、通知與歷史查詢。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99-04B9-416C-9D43-90660DD2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A8C7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99AE7-0C36-4506-BB30-E98700E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rPr>
              <a:t>教室租用系統｜資料庫設計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FBDD5-72DE-4A00-870B-C14128F1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62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A8C7D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9419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2026-06-02T09:58:01.3660000Z</dcterms:created>
  <dcterms:modified xsi:type="dcterms:W3CDTF">2026-06-02T09:58:01.3660000Z</dcterms:modified>
</coreProperties>
</file>